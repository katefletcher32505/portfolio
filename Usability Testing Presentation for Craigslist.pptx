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9328" r="29328" t="0" b="0"/>
          <a:stretch>
            <a:fillRect/>
          </a:stretch>
        </p:blipFill>
        <p:spPr>
          <a:xfrm rot="0" flipH="false" flipV="false">
            <a:off x="7112000" y="0"/>
            <a:ext cx="5080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508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584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20000"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Usability</a:t>
            </a:r>
            <a:r>
              <a:rPr lang="en-US" b="fals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tru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Testing:</a:t>
            </a:r>
            <a:r>
              <a:rPr lang="en-US" b="fals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true" i="false" strike="noStrike" u="none" sz="5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Craigslist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72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Evaluating User Experience, Navigation Issues, and Design Insights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60960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UX Case Study Presentation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" cy="508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762000"/>
            <a:ext cx="990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 of the Study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Why we tested Craigslist and what we aimed to discover.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3175000" cy="2794000"/>
          </a:xfrm>
          <a:prstGeom prst="roundRect">
            <a:avLst>
              <a:gd name="adj" fmla="val 181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048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F6F8E">
                    <a:alpha val="2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8100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Evaluate Intuitiveness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Assess how intuitive the core interface is for both new and returning users.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08500" y="2794000"/>
            <a:ext cx="3175000" cy="2794000"/>
          </a:xfrm>
          <a:prstGeom prst="roundRect">
            <a:avLst>
              <a:gd name="adj" fmla="val 181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762500" y="3048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F6F8E">
                    <a:alpha val="2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762500" y="38100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Observe Behaviors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Track organic navigation, search patterns, and listing interactions.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2794000"/>
            <a:ext cx="3175000" cy="2794000"/>
          </a:xfrm>
          <a:prstGeom prst="roundRect">
            <a:avLst>
              <a:gd name="adj" fmla="val 181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0" y="3048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F6F8E">
                    <a:alpha val="2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38100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Identify Friction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Pinpoint primary areas of confusion, dead ends, or cognitive overload.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68" r="2168" t="0" b="0"/>
          <a:stretch>
            <a:fillRect/>
          </a:stretch>
        </p:blipFill>
        <p:spPr>
          <a:xfrm rot="0" flipH="false" flipV="false">
            <a:off x="7620000" y="762000"/>
            <a:ext cx="3810000" cy="5334000"/>
          </a:xfrm>
          <a:prstGeom prst="roundRect">
            <a:avLst>
              <a:gd name="adj" fmla="val 266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270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 Participants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6096000" cy="127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6096000" cy="127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50800" cy="1270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0955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The Users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Graham (Student) &amp; Sydnie (English Major)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609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Baseline Familiarity</a:t>
            </a: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Highly familiar with modern online platforms (e.g., Facebook Marketplace, Amazon). Very comfortable with standard e-commerce UI patterns.</a:t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Craigslist Experience</a:t>
            </a: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Limited prior experience specifically with the Craigslist interface.</a:t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Their expectations are heavily shaped by contemporary, visual-first marketplace designs.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Methodology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191000" y="1524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191000" y="1524000"/>
            <a:ext cx="76200" cy="762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71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Conducted 2 Sessions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0" y="1587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Moderated usability testing with Graham and Sydnie.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969000" y="2413000"/>
            <a:ext cx="254000" cy="254000"/>
          </a:xfrm>
          <a:prstGeom prst="downArrow">
            <a:avLst/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2794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0" y="2794000"/>
            <a:ext cx="76200" cy="762000"/>
          </a:xfrm>
          <a:prstGeom prst="roundRect">
            <a:avLst>
              <a:gd name="adj" fmla="val 0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98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Guided Tasks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857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Users completed a set of scenario-based tasks.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69000" y="3683000"/>
            <a:ext cx="254000" cy="254000"/>
          </a:xfrm>
          <a:prstGeom prst="downArrow">
            <a:avLst/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4064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91000" y="4064000"/>
            <a:ext cx="76200" cy="762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425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Think-Aloud Protocol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4127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Captured real-time reactions and decision-making logic.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69000" y="4953000"/>
            <a:ext cx="254000" cy="254000"/>
          </a:xfrm>
          <a:prstGeom prst="downArrow">
            <a:avLst/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191000" y="5334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191000" y="5334000"/>
            <a:ext cx="76200" cy="762000"/>
          </a:xfrm>
          <a:prstGeom prst="roundRect">
            <a:avLst>
              <a:gd name="adj" fmla="val 0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552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Script Comparison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397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Compared results between a leading vs. non-leading script.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User Journey (Tasks)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537436" flipH="false" flipV="false">
            <a:off x="1809750" y="4534408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4" id="4"/>
          <p:cNvCxnSpPr/>
          <p:nvPr/>
        </p:nvCxnSpPr>
        <p:spPr>
          <a:xfrm rot="-22917" flipH="false" flipV="false">
            <a:off x="1967886" y="4375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cxnSp>
        <p:nvCxnSpPr>
          <p:cNvPr name="Connector 5" id="5"/>
          <p:cNvCxnSpPr/>
          <p:nvPr/>
        </p:nvCxnSpPr>
        <p:spPr>
          <a:xfrm rot="-5537436" flipH="false" flipV="false">
            <a:off x="3714750" y="3518408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-22917" flipH="false" flipV="false">
            <a:off x="3872886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cxnSp>
        <p:nvCxnSpPr>
          <p:cNvPr name="Connector 7" id="7"/>
          <p:cNvCxnSpPr/>
          <p:nvPr/>
        </p:nvCxnSpPr>
        <p:spPr>
          <a:xfrm rot="-5537436" flipH="false" flipV="false">
            <a:off x="5619750" y="2502408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22917" flipH="false" flipV="false">
            <a:off x="5777886" y="2343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cxnSp>
        <p:nvCxnSpPr>
          <p:cNvPr name="Connector 9" id="9"/>
          <p:cNvCxnSpPr/>
          <p:nvPr/>
        </p:nvCxnSpPr>
        <p:spPr>
          <a:xfrm rot="-5537436" flipH="false" flipV="false">
            <a:off x="7524750" y="1486408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10" id="10"/>
          <p:cNvCxnSpPr/>
          <p:nvPr/>
        </p:nvCxnSpPr>
        <p:spPr>
          <a:xfrm rot="-22917" flipH="false" flipV="false">
            <a:off x="7682886" y="1327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699000"/>
            <a:ext cx="1905000" cy="139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6045200"/>
            <a:ext cx="1905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48895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Task 1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tru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Find an item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Locate a specific item to purchase.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21000" y="3683000"/>
            <a:ext cx="1905000" cy="139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921000" y="5029200"/>
            <a:ext cx="1905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0" y="38735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Task 2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tru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Narrow search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Use filters or category navigation.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2667000"/>
            <a:ext cx="1905000" cy="139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26000" y="4013200"/>
            <a:ext cx="1905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953000" y="28575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Task 3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tru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Evaluate listing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Assess credibility and item details.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1000" y="1651000"/>
            <a:ext cx="1905000" cy="139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2997200"/>
            <a:ext cx="1905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58000" y="18415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Task 4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tru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Contact seller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Find and initiate communication.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636000" y="635000"/>
            <a:ext cx="1905000" cy="139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4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0" y="1981200"/>
            <a:ext cx="1905000" cy="50800"/>
          </a:xfrm>
          <a:prstGeom prst="roundRect">
            <a:avLst>
              <a:gd name="adj" fmla="val 0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63000" y="82550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Task 5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tru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Create a post</a:t>
            </a:r>
            <a: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4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Begin the listing creation process.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rcRect l="387" r="387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Findings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30480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3048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0320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Homepage Friction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Users experienced noticeable hesitation upon reaching the text-heavy homepage.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778000"/>
            <a:ext cx="30480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778000"/>
            <a:ext cx="3048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0320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Unclear Navigation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Categorization and primary navigation paths were not immediately obvious.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778000"/>
            <a:ext cx="30480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048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382000" y="20320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Unintuitive Filters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The filtering system lacked modern UI affordances expected by users.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94000" y="3937000"/>
            <a:ext cx="30480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94000" y="3937000"/>
            <a:ext cx="30480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48000" y="41910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Unstructured Listings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Individual listings felt disorganized and difficult to scan quickly.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937000"/>
            <a:ext cx="30480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937000"/>
            <a:ext cx="3048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4191000"/>
            <a:ext cx="254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Trust Deficit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Listings without accompanying images were immediately perceived as "sketchy."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Observed Behavior Patterns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651000"/>
            <a:ext cx="4826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1905000"/>
            <a:ext cx="381000" cy="381000"/>
          </a:xfrm>
          <a:prstGeom prst="ellipse">
            <a:avLst/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9050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41500" y="1905000"/>
            <a:ext cx="374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Visual Preference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5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Users strongly preferred modern, image-first interfaces over text-dense pages.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651000"/>
            <a:ext cx="4826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1905000"/>
            <a:ext cx="381000" cy="381000"/>
          </a:xfrm>
          <a:prstGeom prst="ellipse">
            <a:avLst/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19050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75500" y="1905000"/>
            <a:ext cx="374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Scanning Behavior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5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Participants relied on rapid scanning rather than reading dense text to find information.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937000"/>
            <a:ext cx="4826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191000"/>
            <a:ext cx="381000" cy="381000"/>
          </a:xfrm>
          <a:prstGeom prst="ellipse">
            <a:avLst/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41910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4191000"/>
            <a:ext cx="374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Missing Hierarchy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5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The lack of clear visual hierarchy directly caused navigational confusion and hesitation.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937000"/>
            <a:ext cx="4826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191000"/>
            <a:ext cx="381000" cy="381000"/>
          </a:xfrm>
          <a:prstGeom prst="ellipse">
            <a:avLst/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1910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4191000"/>
            <a:ext cx="3746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Transferred Expectations</a:t>
            </a:r>
            <a: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5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Users continuously applied mental models from other platforms (e.g., Facebook Marketplace).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Script Comparison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89257" flipH="false" flipV="false">
            <a:off x="4064000" y="3549025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842000" y="1333500"/>
            <a:ext cx="508000" cy="381000"/>
          </a:xfrm>
          <a:prstGeom prst="roundRect">
            <a:avLst>
              <a:gd name="adj" fmla="val 13333"/>
            </a:avLst>
          </a:prstGeom>
          <a:solidFill>
            <a:srgbClr val="0F0F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0" y="1333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524000"/>
            <a:ext cx="4572000" cy="762000"/>
          </a:xfrm>
          <a:prstGeom prst="roundRect">
            <a:avLst>
              <a:gd name="adj" fmla="val 6666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1651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1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Graham</a:t>
            </a:r>
            <a:r>
              <a:rPr lang="en-US" b="fals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Initial Script (Leading Questions)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1524000"/>
            <a:ext cx="4572000" cy="762000"/>
          </a:xfrm>
          <a:prstGeom prst="roundRect">
            <a:avLst>
              <a:gd name="adj" fmla="val 6666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0" y="1651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1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Sydnie</a:t>
            </a:r>
            <a:r>
              <a:rPr lang="en-US" b="fals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Revised Script (Non-leading Questions)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2794000"/>
            <a:ext cx="1270000" cy="304800"/>
          </a:xfrm>
          <a:prstGeom prst="roundRect">
            <a:avLst>
              <a:gd name="adj" fmla="val 16666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61000" y="2794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NAVIGATION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822" flipH="false" flipV="false">
            <a:off x="1015374" y="2940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-9822" flipH="false" flipV="false">
            <a:off x="6730374" y="2940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3111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Navigated with relative ease and confidence.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111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Exhibited significantly more exploration.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461000" y="3937000"/>
            <a:ext cx="1270000" cy="304800"/>
          </a:xfrm>
          <a:prstGeom prst="roundRect">
            <a:avLst>
              <a:gd name="adj" fmla="val 16666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461000" y="3937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HESITATION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822" flipH="false" flipV="false">
            <a:off x="1015374" y="4083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-9822" flipH="false" flipV="false">
            <a:off x="6730374" y="4083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016000" y="4254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Minimal hesitation during tasks.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254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Frequent hesitation and uncertainty observed.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461000"/>
            <a:ext cx="10160000" cy="762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70000" y="5651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Takeaway: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 Prompt phrasing and leading questions likely influenced the apparent ease of use in the first test.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3048000" cy="4826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50800" cy="4826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40984" y="1205492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42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</a:t>
            </a:r>
            <a:r>
              <a:rPr lang="en-US" b="false" i="false" strike="noStrike" u="none" sz="42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42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true" i="false" strike="noStrike" u="none" sz="42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Takeaways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0984" y="16510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Core principles derived from observed user behavior.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1016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Simplicity ≠ Usability</a:t>
            </a:r>
            <a: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A visually sparse interface does not automatically equal an intuitive one.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2032000"/>
            <a:ext cx="6604000" cy="127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2286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Cognitive Load</a:t>
            </a:r>
            <a: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The absence of standard visual cues forces users to work harder to find information.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3302000"/>
            <a:ext cx="6604000" cy="127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3556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Design Patterns Matter</a:t>
            </a:r>
            <a: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Familiar, predictable UI patterns are critical for a smooth, frictionless user experience.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4572000"/>
            <a:ext cx="6604000" cy="127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4826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2F6F8E"/>
                </a:solidFill>
                <a:latin typeface="Inter"/>
                <a:ea typeface="Inter"/>
                <a:cs typeface="Inter"/>
                <a:sym typeface="Inter"/>
              </a:rPr>
              <a:t>Trust Signals</a:t>
            </a:r>
            <a: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2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Images are not just decorative; they are essential trust signals in peer-to-peer marketplaces.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0"/>
          </a:blip>
          <a:srcRect l="29328" r="29328" t="0" b="0"/>
          <a:stretch>
            <a:fillRect/>
          </a:stretch>
        </p:blipFill>
        <p:spPr>
          <a:xfrm rot="0" flipH="false" flipV="false">
            <a:off x="7112000" y="0"/>
            <a:ext cx="5080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5842000" y="0"/>
            <a:ext cx="1270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8F8F6">
                  <a:alpha val="100000"/>
                </a:srgbClr>
              </a:gs>
              <a:gs pos="100000">
                <a:srgbClr val="F8F8F6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508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Recommended UX Improvements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397000"/>
            <a:ext cx="5080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39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1587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Navigation Structure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Implement a clearer, more prominent top-level navigation.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5080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66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2857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Visual Hierarchy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Establish strong typography and spacing to guide the eye.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937000"/>
            <a:ext cx="5080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93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4127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Image Inclusions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Enforce or strongly encourage image uploads for all listings.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207000"/>
            <a:ext cx="5080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1F4D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70000" y="5397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Clear Actions</a:t>
            </a:r>
            <a: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4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Make primary CTAs (e.g., contacting the seller) visually distinct.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8F8F6">
                  <a:alpha val="100000"/>
                </a:srgbClr>
              </a:gs>
              <a:gs pos="100000">
                <a:srgbClr val="E6EBF0">
                  <a:alpha val="4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778500" y="1016000"/>
            <a:ext cx="635000" cy="50800"/>
          </a:xfrm>
          <a:prstGeom prst="roundRect">
            <a:avLst>
              <a:gd name="adj" fmla="val 0"/>
            </a:avLst>
          </a:prstGeom>
          <a:solidFill>
            <a:srgbClr val="2F6F8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F0F12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 Reflection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25400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10000"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2400">
                <a:solidFill>
                  <a:srgbClr val="1F4D3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“Real users behave differently than expected. Usability testing reliably surfaces critical issues that remain invisible to designers.”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0" y="4191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3C3C44"/>
                </a:solidFill>
                <a:latin typeface="Inter"/>
                <a:ea typeface="Inter"/>
                <a:cs typeface="Inter"/>
                <a:sym typeface="Inter"/>
              </a:rPr>
              <a:t>Furthermore, the phrasing of testing questions can unintentionally bias user behavior. Objective observation is key to discovering the truth about an interface.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6096000"/>
            <a:ext cx="10160000" cy="127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622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C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